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858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85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731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Insurance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58368" y="4343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purchase behavior with classification models — Random Forest, Logistic Regression, KNN &amp; Decision Tree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52578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440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TravelInsurancePrediction.csv   |   1,987 records   |   9 features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customer will purchase travel insurance based on demographic, financial, and travel-history attributes, then compare four classification models to find the best performer.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AF3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index column, check nulls &amp; duplicates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28803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A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3108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40690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distributions &amp; relationships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28803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A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3108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58200" y="40690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categories, build new ratio features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A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5715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6080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Logistic Regression, KNN, Decision Tree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48920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AF3F7"/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5120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17720" y="5715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17720" y="6080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 comparison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48920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AF3F7"/>
          </a:solidFill>
          <a:ln/>
        </p:spPr>
      </p:sp>
      <p:sp>
        <p:nvSpPr>
          <p:cNvPr id="31" name="Shape 29"/>
          <p:cNvSpPr/>
          <p:nvPr/>
        </p:nvSpPr>
        <p:spPr>
          <a:xfrm>
            <a:off x="8458200" y="5120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58200" y="5715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58200" y="6080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new, unseen customer profiles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1,987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AF3F7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AF3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9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A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dropping index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Steps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03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64845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the redundant 'Unnamed: 0' index column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702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70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21538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zero null values across all 9 columns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3717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837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7823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rows using .duplicated()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40410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404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5349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types: 5 numeric, 4 categorical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350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Summary (describe)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703320"/>
          <a:ext cx="5577840" cy="2468880"/>
        </p:xfrm>
        <a:graphic>
          <a:graphicData uri="http://schemas.openxmlformats.org/drawingml/2006/table">
            <a:tbl>
              <a:tblPr/>
              <a:tblGrid>
                <a:gridCol w="1394460"/>
                <a:gridCol w="1394460"/>
                <a:gridCol w="1394460"/>
                <a:gridCol w="13944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Members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₹9,32,763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₹3,76,856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₹18,00,000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Employment Type &amp; Education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6163056" cy="4160520"/>
          </a:xfrm>
          <a:prstGeom prst="roundRect">
            <a:avLst>
              <a:gd name="adj" fmla="val 1758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5" name="Image 0" descr="imgs/cell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9436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5367528"/>
            <a:ext cx="6163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customers by Employment Type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114032" y="1581912"/>
            <a:ext cx="4425696" cy="4160520"/>
          </a:xfrm>
          <a:prstGeom prst="roundRect">
            <a:avLst>
              <a:gd name="adj" fmla="val 1758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8" name="Image 1" descr="imgs/cell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691640"/>
            <a:ext cx="4206240" cy="3657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14032" y="5367528"/>
            <a:ext cx="4425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vs Non-Graduate split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4008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work in the Private Sector, and the vast majority are graduates — a strongly imbalanced education split.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Size &amp; Chronic Disease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5614416" cy="4069080"/>
          </a:xfrm>
          <a:prstGeom prst="roundRect">
            <a:avLst>
              <a:gd name="adj" fmla="val 1798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5" name="Image 0" descr="imgs/cell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3949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5276088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Family Members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99632" y="1581912"/>
            <a:ext cx="5614416" cy="4069080"/>
          </a:xfrm>
          <a:prstGeom prst="roundRect">
            <a:avLst>
              <a:gd name="adj" fmla="val 1798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8" name="Image 1" descr="imgs/cell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3949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99632" y="5276088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split by Chronic Disease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of 4-6 members dominate the dataset; chronic disease presence is spread fairly evenly across family sizes.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Size by Employment 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24912" y="1444752"/>
            <a:ext cx="5888736" cy="5303520"/>
          </a:xfrm>
          <a:prstGeom prst="roundRect">
            <a:avLst>
              <a:gd name="adj" fmla="val 1379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5" name="Image 0" descr="imgs/cell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554480"/>
            <a:ext cx="566928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24912" y="6373368"/>
            <a:ext cx="5888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count, split by Employment Type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Habits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70432" y="1581912"/>
            <a:ext cx="4425696" cy="4160520"/>
          </a:xfrm>
          <a:prstGeom prst="roundRect">
            <a:avLst>
              <a:gd name="adj" fmla="val 1758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5" name="Image 0" descr="imgs/cell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91640"/>
            <a:ext cx="42062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5367528"/>
            <a:ext cx="4425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Flyer status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82512" y="1581912"/>
            <a:ext cx="4425696" cy="4160520"/>
          </a:xfrm>
          <a:prstGeom prst="roundRect">
            <a:avLst>
              <a:gd name="adj" fmla="val 1758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8" name="Image 1" descr="imgs/cell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206240" cy="3657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82512" y="5367528"/>
            <a:ext cx="4425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Travelled Abroad status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minority of customers are frequent flyers or have travelled abroad — these behaviors turn out to be strong purchase signals.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&amp; Correlation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5614416" cy="4069080"/>
          </a:xfrm>
          <a:prstGeom prst="roundRect">
            <a:avLst>
              <a:gd name="adj" fmla="val 1798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5" name="Image 0" descr="imgs/cell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3949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5276088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vs Family Members (row-normalized)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99632" y="1581912"/>
            <a:ext cx="5157216" cy="4069080"/>
          </a:xfrm>
          <a:prstGeom prst="roundRect">
            <a:avLst>
              <a:gd name="adj" fmla="val 1798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8" name="Image 1" descr="imgs/cell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49377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99632" y="527608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of numeric features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dominates the correlation with the target — the signal is distributed across income, travel history, and family size.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vs Travel Behavior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5614416" cy="4069080"/>
          </a:xfrm>
          <a:prstGeom prst="roundRect">
            <a:avLst>
              <a:gd name="adj" fmla="val 1798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5" name="Image 0" descr="imgs/cell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3949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5276088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by Frequent Flyer status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99632" y="1581912"/>
            <a:ext cx="5614416" cy="4069080"/>
          </a:xfrm>
          <a:prstGeom prst="roundRect">
            <a:avLst>
              <a:gd name="adj" fmla="val 1798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8" name="Image 1" descr="imgs/cell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39496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99632" y="5276088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by Ever Travelled Abroad status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higher annual income are more likely to be frequent flyers and to have travelled abroad.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 &amp; Distributions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4425696" cy="4023360"/>
          </a:xfrm>
          <a:prstGeom prst="roundRect">
            <a:avLst>
              <a:gd name="adj" fmla="val 1818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5" name="Image 0" descr="imgs/cell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20624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5230368"/>
            <a:ext cx="4425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purchase count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148072" y="1581912"/>
            <a:ext cx="6528816" cy="2039112"/>
          </a:xfrm>
          <a:prstGeom prst="roundRect">
            <a:avLst>
              <a:gd name="adj" fmla="val 3587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8" name="Image 1" descr="imgs/cell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91640"/>
            <a:ext cx="6309360" cy="1536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48072" y="3246120"/>
            <a:ext cx="6528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Annual Income &amp; Family Members by target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25780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Balance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257800" y="37947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64% of customers did not purchase insurance, 36% did — a mild imbalance the models must handle.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394960"/>
          <a:ext cx="10881360" cy="105156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Income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Family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Insurance (0)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₹8,21,300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Purchased 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₹11,33,239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&amp; New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Encoding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574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FrequentFlyer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20574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1, No → 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AF3F7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7432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EverTravelledAbroad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7432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1, No → 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A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4290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GraduateOrNot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429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1, No → 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A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41148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Type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4114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→ 1, Private/Self → 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2148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21214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IncomePerFamilyMember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4231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AnnualIncome / FamilyMembers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2971800"/>
            <a:ext cx="457200" cy="45720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3720" y="29443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TravelScore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3246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FrequentFlyer + EverTravelledAbroad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379476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931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42976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ratio and combined features capture per-person affordability and cumulative travel exposure — signals that raw columns don't express directly.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TRAINING &amp; SPLITTING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split using train_test_split(random_state=42)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0241280" cy="82296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8193024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7827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1,589 rows (80%)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41664" y="2194560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 (20%)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3337560" cy="1463040"/>
          </a:xfrm>
          <a:prstGeom prst="roundRect">
            <a:avLst>
              <a:gd name="adj" fmla="val 6250"/>
            </a:avLst>
          </a:prstGeom>
          <a:solidFill>
            <a:srgbClr val="EAF3F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9476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1,589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60520" y="3657600"/>
            <a:ext cx="3337560" cy="1463040"/>
          </a:xfrm>
          <a:prstGeom prst="roundRect">
            <a:avLst>
              <a:gd name="adj" fmla="val 6250"/>
            </a:avLst>
          </a:prstGeom>
          <a:solidFill>
            <a:srgbClr val="EA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379476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160520" y="45720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3657600"/>
            <a:ext cx="3337560" cy="1463040"/>
          </a:xfrm>
          <a:prstGeom prst="roundRect">
            <a:avLst>
              <a:gd name="adj" fmla="val 6250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379476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772400" y="45720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State (seed)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(data_x): Age, Employment Type, GraduateOrNot, AnnualIncome, FamilyMembers, ChronicDiseases, FrequentFlyer, EverTravelledAbroad, IncomePerFamilyMember, TravelScore  →  Target (data_y): TravelInsurance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Head to Head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881360" cy="2377440"/>
        </p:xfrm>
        <a:graphic>
          <a:graphicData uri="http://schemas.openxmlformats.org/drawingml/2006/table">
            <a:tbl>
              <a:tblPr/>
              <a:tblGrid>
                <a:gridCol w="3383280"/>
                <a:gridCol w="1874520"/>
                <a:gridCol w="1874520"/>
                <a:gridCol w="1874520"/>
                <a:gridCol w="1874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59.57%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4663440"/>
            <a:ext cx="502920" cy="502920"/>
          </a:xfrm>
          <a:prstGeom prst="ellipse">
            <a:avLst/>
          </a:prstGeom>
          <a:solidFill>
            <a:srgbClr val="1C9A6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4526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leads on every metric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489204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(82.4%), precision (81.4%), and F1 score (72.4%) — ensembling many decision trees captures the non-linear interactions between income, travel history, and family size better than a single model.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Across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67712" y="1490472"/>
            <a:ext cx="7626096" cy="4937760"/>
          </a:xfrm>
          <a:prstGeom prst="roundRect">
            <a:avLst>
              <a:gd name="adj" fmla="val 1481"/>
            </a:avLst>
          </a:prstGeom>
          <a:solidFill>
            <a:srgbClr val="EAF3F7"/>
          </a:solidFill>
          <a:ln w="12700">
            <a:solidFill>
              <a:srgbClr val="D7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C7293">
                <a:alpha val="18000"/>
              </a:srgbClr>
            </a:outerShdw>
          </a:effectLst>
        </p:spPr>
      </p:sp>
      <p:pic>
        <p:nvPicPr>
          <p:cNvPr id="5" name="Image 0" descr="imgs/cell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600200"/>
            <a:ext cx="74066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67712" y="6053328"/>
            <a:ext cx="7626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 &amp; F1 Score by model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Wins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models, Random Forest delivers the strongest, most balanced performance for predicting travel-insurance purchases.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6243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overall accuracy at 82.4%, ~2 points above the next-best model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8269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precision (81.4%) — fewer false positives when predicting a purchase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1421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14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94106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 (72.4%), the strongest balance of precision and recall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7258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72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59943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feature interactions (income × travel history × family size) that Logistic Regression misses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0" y="1737360"/>
            <a:ext cx="3794760" cy="3566160"/>
          </a:xfrm>
          <a:prstGeom prst="roundRect">
            <a:avLst>
              <a:gd name="adj" fmla="val 3077"/>
            </a:avLst>
          </a:prstGeom>
          <a:solidFill>
            <a:srgbClr val="1A3D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965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22860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endParaRPr lang="en-US" sz="28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772400" y="338328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9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82.4%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772400" y="40690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held-out test set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4526280"/>
            <a:ext cx="3063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46634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 72.4%  •  Precision: 81.4%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65.3%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ON UNSEEN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New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unseen customer profiles were passed through the trained Random Forest model to validate real-world behavior.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EAF3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4048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08860" y="3017520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328416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08860" y="3328416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Private/Self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639312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08860" y="3639312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950208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08860" y="3950208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₹14,00,000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261104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08860" y="4261104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572000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Flyer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8860" y="4572000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4882896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Travelled Abroad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08860" y="4882896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502920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D6ECE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074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Purchase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4406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89.0%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0" y="21488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EAF3F7"/>
          </a:solidFill>
          <a:ln/>
        </p:spPr>
      </p:sp>
      <p:sp>
        <p:nvSpPr>
          <p:cNvPr id="27" name="Shape 25"/>
          <p:cNvSpPr/>
          <p:nvPr/>
        </p:nvSpPr>
        <p:spPr>
          <a:xfrm>
            <a:off x="4526280" y="2377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24048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6280" y="3017520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57900" y="3017520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26280" y="3328416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57900" y="3328416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26280" y="3639312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57900" y="3639312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26280" y="3950208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57900" y="3950208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₹4,50,000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26280" y="4261104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57900" y="4261104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26280" y="4572000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Flyer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57900" y="4572000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26280" y="4882896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Travelled Abroad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057900" y="4882896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480560" y="502920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FBE3D6"/>
          </a:solidFill>
          <a:ln/>
        </p:spPr>
      </p:sp>
      <p:sp>
        <p:nvSpPr>
          <p:cNvPr id="45" name="Text 43"/>
          <p:cNvSpPr/>
          <p:nvPr/>
        </p:nvSpPr>
        <p:spPr>
          <a:xfrm>
            <a:off x="4480560" y="5074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3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Not Purchase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480560" y="54406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12.8%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46720" y="21488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EAF3F7"/>
          </a:solidFill>
          <a:ln/>
        </p:spPr>
      </p:sp>
      <p:sp>
        <p:nvSpPr>
          <p:cNvPr id="48" name="Shape 46"/>
          <p:cNvSpPr/>
          <p:nvPr/>
        </p:nvSpPr>
        <p:spPr>
          <a:xfrm>
            <a:off x="8275320" y="2377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82753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869680" y="24048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275320" y="3017520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806940" y="3017520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275320" y="3328416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06940" y="3328416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Private/Self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275320" y="3639312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806940" y="3639312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275320" y="3950208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806940" y="3950208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₹6,50,000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275320" y="4261104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806940" y="4261104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275320" y="4572000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Flyer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06940" y="4572000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275320" y="4882896"/>
            <a:ext cx="1668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Travelled Abroad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806940" y="4882896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229600" y="502920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FBE3D6"/>
          </a:solidFill>
          <a:ln/>
        </p:spPr>
      </p:sp>
      <p:sp>
        <p:nvSpPr>
          <p:cNvPr id="66" name="Text 64"/>
          <p:cNvSpPr/>
          <p:nvPr/>
        </p:nvSpPr>
        <p:spPr>
          <a:xfrm>
            <a:off x="8229600" y="5074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3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Not Purchase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8229600" y="54406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31.6%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 •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5774436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774436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Prediction — Machine Learning Project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2026-07-31T11:31:09Z</dcterms:created>
  <dcterms:modified xsi:type="dcterms:W3CDTF">2026-07-31T11:31:09Z</dcterms:modified>
</cp:coreProperties>
</file>